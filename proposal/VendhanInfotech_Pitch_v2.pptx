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C3144"/>
          </a:solidFill>
          <a:ln w="12700">
            <a:solidFill>
              <a:srgbClr val="1C31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-457200"/>
            <a:ext cx="2926080" cy="2926080"/>
          </a:xfrm>
          <a:prstGeom prst="ellipse">
            <a:avLst/>
          </a:prstGeom>
          <a:solidFill>
            <a:srgbClr val="2A4A63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274320"/>
            <a:ext cx="1645920" cy="1645920"/>
          </a:xfrm>
          <a:prstGeom prst="ellipse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0" y="65836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31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0" y="22860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&amp;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0" y="4023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· February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11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Vendhan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0040" y="11887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488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Infotech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320040" y="2148840"/>
            <a:ext cx="2011680" cy="45720"/>
          </a:xfrm>
          <a:prstGeom prst="rect">
            <a:avLst/>
          </a:prstGeom>
          <a:solidFill>
            <a:srgbClr val="8A9BAD"/>
          </a:solidFill>
          <a:ln w="12700">
            <a:solidFill>
              <a:srgbClr val="8A9B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774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built your websites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you hired us."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" y="3657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working prototypes, fully built. A screen recording ready to share. Like what you see? We host them live instantly.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C3144"/>
          </a:solidFill>
          <a:ln w="12700">
            <a:solidFill>
              <a:srgbClr val="1C31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1188720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37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Already Built — For You.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contract. Before a meeting. Before you said yes.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" y="1353312"/>
            <a:ext cx="2788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8100000">
              <a:srgbClr val="1C2B3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353312"/>
            <a:ext cx="2788920" cy="109728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727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Dusk &amp; Dawn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84048" y="20574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screen · animated sun/moon SVG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2514600"/>
            <a:ext cx="109728" cy="109728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2487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843784"/>
            <a:ext cx="109728" cy="109728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28163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3172968"/>
            <a:ext cx="109728" cy="109728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31455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navigation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82112" y="1353312"/>
            <a:ext cx="2788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8100000">
              <a:srgbClr val="1C2B3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82112" y="1353312"/>
            <a:ext cx="2788920" cy="109728"/>
          </a:xfrm>
          <a:prstGeom prst="rect">
            <a:avLst/>
          </a:prstGeom>
          <a:solidFill>
            <a:srgbClr val="1C7A8A"/>
          </a:solidFill>
          <a:ln w="12700">
            <a:solidFill>
              <a:srgbClr val="1C7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15727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Storyteller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364992" y="20574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parallax · day/night hero toggle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4992" y="2514600"/>
            <a:ext cx="109728" cy="109728"/>
          </a:xfrm>
          <a:prstGeom prst="rect">
            <a:avLst/>
          </a:prstGeom>
          <a:solidFill>
            <a:srgbClr val="1C7A8A"/>
          </a:solidFill>
          <a:ln w="12700">
            <a:solidFill>
              <a:srgbClr val="1C7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2487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64992" y="2843784"/>
            <a:ext cx="109728" cy="109728"/>
          </a:xfrm>
          <a:prstGeom prst="rect">
            <a:avLst/>
          </a:prstGeom>
          <a:solidFill>
            <a:srgbClr val="1C7A8A"/>
          </a:solidFill>
          <a:ln w="12700">
            <a:solidFill>
              <a:srgbClr val="1C7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8163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4992" y="3172968"/>
            <a:ext cx="109728" cy="109728"/>
          </a:xfrm>
          <a:prstGeom prst="rect">
            <a:avLst/>
          </a:prstGeom>
          <a:solidFill>
            <a:srgbClr val="1C7A8A"/>
          </a:solidFill>
          <a:ln w="12700">
            <a:solidFill>
              <a:srgbClr val="1C7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31455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navigation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63056" y="1353312"/>
            <a:ext cx="2788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8100000">
              <a:srgbClr val="1C2B3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1353312"/>
            <a:ext cx="2788920" cy="109728"/>
          </a:xfrm>
          <a:prstGeom prst="rect">
            <a:avLst/>
          </a:prstGeom>
          <a:solidFill>
            <a:srgbClr val="1C3144"/>
          </a:solidFill>
          <a:ln w="12700">
            <a:solidFill>
              <a:srgbClr val="1C31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5936" y="15727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Pragmatist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345936" y="20574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· dark mode · SPA navigation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45936" y="2514600"/>
            <a:ext cx="109728" cy="109728"/>
          </a:xfrm>
          <a:prstGeom prst="rect">
            <a:avLst/>
          </a:prstGeom>
          <a:solidFill>
            <a:srgbClr val="1C3144"/>
          </a:solidFill>
          <a:ln w="12700">
            <a:solidFill>
              <a:srgbClr val="1C31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47104" y="24871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45936" y="2843784"/>
            <a:ext cx="109728" cy="109728"/>
          </a:xfrm>
          <a:prstGeom prst="rect">
            <a:avLst/>
          </a:prstGeom>
          <a:solidFill>
            <a:srgbClr val="1C3144"/>
          </a:solidFill>
          <a:ln w="12700">
            <a:solidFill>
              <a:srgbClr val="1C31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47104" y="28163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45936" y="3172968"/>
            <a:ext cx="109728" cy="109728"/>
          </a:xfrm>
          <a:prstGeom prst="rect">
            <a:avLst/>
          </a:prstGeom>
          <a:solidFill>
            <a:srgbClr val="1C3144"/>
          </a:solidFill>
          <a:ln w="12700">
            <a:solidFill>
              <a:srgbClr val="1C31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47104" y="31455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navigation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3931920"/>
            <a:ext cx="9144000" cy="640080"/>
          </a:xfrm>
          <a:prstGeom prst="rect">
            <a:avLst/>
          </a:prstGeom>
          <a:solidFill>
            <a:srgbClr val="FDF0D0"/>
          </a:solidFill>
          <a:ln w="12700">
            <a:solidFill>
              <a:srgbClr val="E8D5A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931920"/>
            <a:ext cx="64008" cy="640080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40050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more designs built  ·  Watch the screen recording first  ·  Like what you see? Say the word — we host all 6 live within hours for your team to try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1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the recording.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 it? We host all 6 live — within hours.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commitment required. No sales call needed first. Just watch, then decide.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8595360" cy="868680"/>
          </a:xfrm>
          <a:prstGeom prst="rect">
            <a:avLst/>
          </a:prstGeom>
          <a:solidFill>
            <a:srgbClr val="2A4A63"/>
          </a:solidFill>
          <a:ln w="12700">
            <a:solidFill>
              <a:srgbClr val="3A6080"/>
            </a:solidFill>
            <a:prstDash val="solid"/>
          </a:ln>
          <a:effectLst>
            <a:outerShdw sx="100000" sy="100000" kx="0" ky="0" algn="bl" rotWithShape="0" blurRad="101600" dist="25400" dir="8100000">
              <a:srgbClr val="1C2B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828800"/>
            <a:ext cx="685800" cy="868680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0116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31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901952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the screen recording first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28600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recorded a complete walkthrough of all six prototypes — every section, every interaction, every design direction. Watch it in under three minutes. No meeting. No pressure.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8595360" cy="868680"/>
          </a:xfrm>
          <a:prstGeom prst="rect">
            <a:avLst/>
          </a:prstGeom>
          <a:solidFill>
            <a:srgbClr val="2A4A63"/>
          </a:solidFill>
          <a:ln w="12700">
            <a:solidFill>
              <a:srgbClr val="3A6080"/>
            </a:solidFill>
            <a:prstDash val="solid"/>
          </a:ln>
          <a:effectLst>
            <a:outerShdw sx="100000" sy="100000" kx="0" ky="0" algn="bl" rotWithShape="0" blurRad="101600" dist="25400" dir="8100000">
              <a:srgbClr val="1C2B3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834640"/>
            <a:ext cx="685800" cy="868680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0175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31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2907792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 it? We host all 6 live — same day, no charge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29184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recording? Say the word. We'll have all six prototypes on a live URL within hours — open on your phone, tablet, or laptop. Share with your team, your designer, whoever needs to weigh in.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840480"/>
            <a:ext cx="8595360" cy="868680"/>
          </a:xfrm>
          <a:prstGeom prst="rect">
            <a:avLst/>
          </a:prstGeom>
          <a:solidFill>
            <a:srgbClr val="2A4A63"/>
          </a:solidFill>
          <a:ln w="12700">
            <a:solidFill>
              <a:srgbClr val="3A6080"/>
            </a:solidFill>
            <a:prstDash val="solid"/>
          </a:ln>
          <a:effectLst>
            <a:outerShdw sx="100000" sy="100000" kx="0" ky="0" algn="bl" rotWithShape="0" blurRad="101600" dist="25400" dir="8100000">
              <a:srgbClr val="1C2B3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840480"/>
            <a:ext cx="685800" cy="868680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0233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31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913632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feedback shapes the final build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29768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elements across prototypes. Tell us what resonates. We incorporate your feedback before a contract is even signed. When you're ready, we start within days.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solidFill>
            <a:srgbClr val="233E55"/>
          </a:solidFill>
          <a:ln w="12700">
            <a:solidFill>
              <a:srgbClr val="233E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3717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agencies send PDFs. We send a recording. Then we host the real thing.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C3144"/>
          </a:solidFill>
          <a:ln w="12700">
            <a:solidFill>
              <a:srgbClr val="1C31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Philosophy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667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recommend what's right for your business — not what bills the most hours.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" y="1298448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8100000">
              <a:srgbClr val="1C2B3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298448"/>
            <a:ext cx="2788920" cy="109728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3619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88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84048" y="224028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Show, don't tell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" y="283464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working prototypes before the contract. That's the standard of investment we bring to every engagement.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82112" y="1298448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8100000">
              <a:srgbClr val="1C2B3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298448"/>
            <a:ext cx="2788920" cy="109728"/>
          </a:xfrm>
          <a:prstGeom prst="rect">
            <a:avLst/>
          </a:prstGeom>
          <a:solidFill>
            <a:srgbClr val="1C7A8A"/>
          </a:solidFill>
          <a:ln w="12700">
            <a:solidFill>
              <a:srgbClr val="1C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53619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364992" y="224028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Simpler is smarter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64992" y="283464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single-venue cafe doesn't need WordPress + WooCommerce + Stripe. We recommend what's actually right — and we say so.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63056" y="1298448"/>
            <a:ext cx="2788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8100000">
              <a:srgbClr val="1C2B3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1298448"/>
            <a:ext cx="2788920" cy="109728"/>
          </a:xfrm>
          <a:prstGeom prst="rect">
            <a:avLst/>
          </a:prstGeom>
          <a:solidFill>
            <a:srgbClr val="1C3144"/>
          </a:solidFill>
          <a:ln w="12700">
            <a:solidFill>
              <a:srgbClr val="1C31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153619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31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345936" y="224028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partner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45936" y="283464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updates, seasonal menus, new pages — we handle it all. You message us, changes done in 24–48hrs.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Recommendation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28600" y="79552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noted your preference for WordPress. Here's our honest assessment — and we'll build on whichever you choose.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98448"/>
            <a:ext cx="8686800" cy="384048"/>
          </a:xfrm>
          <a:prstGeom prst="rect">
            <a:avLst/>
          </a:prstGeom>
          <a:solidFill>
            <a:srgbClr val="1C3144"/>
          </a:solidFill>
          <a:ln w="12700">
            <a:solidFill>
              <a:srgbClr val="1C31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53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1353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Hosting Cost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353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682496"/>
            <a:ext cx="8686800" cy="914400"/>
          </a:xfrm>
          <a:prstGeom prst="rect">
            <a:avLst/>
          </a:prstGeom>
          <a:solidFill>
            <a:srgbClr val="FDF0D0"/>
          </a:solidFill>
          <a:ln w="12700">
            <a:solidFill>
              <a:srgbClr val="D4881E"/>
            </a:solidFill>
            <a:prstDash val="solid"/>
          </a:ln>
          <a:effectLst>
            <a:outerShdw sx="100000" sy="100000" kx="0" ky="0" algn="bl" rotWithShape="0" blurRad="152400" dist="38100" dir="8100000">
              <a:srgbClr val="1C2B3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7556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HTML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157984"/>
            <a:ext cx="1371600" cy="237744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176272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06040" y="177393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$0–5/mo hosting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domain ~$12–15/yr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7556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performance, least maintenance, zero CMS overhead. Perfectly scalable with integrations. Our Phase 1 recommendation.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706624"/>
            <a:ext cx="8686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8100000">
              <a:srgbClr val="1C2B3A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7797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WordPress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06040" y="2798064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$5–50/mo + plugins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domain ~$12–15/yr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77977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and flexible — ideal if you want to self-manage content. Adds plugin maintenance and security updates. Fully available if you prefer it.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730752"/>
            <a:ext cx="8686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8100000">
              <a:srgbClr val="1C2B3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8039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Squarespace / Wix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06040" y="382219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$16+/mo forever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domain included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80390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for self-editing, but cannot match the design quality or customisation of your custom prototypes.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solidFill>
            <a:srgbClr val="E6F5F7"/>
          </a:solidFill>
          <a:ln w="12700">
            <a:solidFill>
              <a:srgbClr val="1C7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cost depends on your chosen tech stack and expected traffic. We recommend the best fit for scalability and future integrations — not the cheapest option.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144"/>
          </a:solidFill>
          <a:ln w="12700">
            <a:solidFill>
              <a:srgbClr val="1C31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Reservations  &amp;  Food Ordering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options — no build cost required where it isn't needed.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109728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8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417320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8100000">
              <a:srgbClr val="1C2B3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417320"/>
            <a:ext cx="64008" cy="749808"/>
          </a:xfrm>
          <a:prstGeom prst="rect">
            <a:avLst/>
          </a:prstGeom>
          <a:solidFill>
            <a:srgbClr val="2A7A57"/>
          </a:solidFill>
          <a:ln w="12700">
            <a:solidFill>
              <a:srgbClr val="2A7A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813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14813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8562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pick · resOS.com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304288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8100000">
              <a:srgbClr val="1C2B3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304288"/>
            <a:ext cx="64008" cy="749808"/>
          </a:xfrm>
          <a:prstGeom prst="rect">
            <a:avLst/>
          </a:prstGeom>
          <a:solidFill>
            <a:srgbClr val="1C7A8A"/>
          </a:solidFill>
          <a:ln w="12700">
            <a:solidFill>
              <a:srgbClr val="1C7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682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TheFork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23682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27432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UK/EU · thefork.co.uk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191256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8100000">
              <a:srgbClr val="1C2B3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191256"/>
            <a:ext cx="64008" cy="749808"/>
          </a:xfrm>
          <a:prstGeom prst="rect">
            <a:avLst/>
          </a:prstGeom>
          <a:solidFill>
            <a:srgbClr val="8A9BAD"/>
          </a:solidFill>
          <a:ln w="12700">
            <a:solidFill>
              <a:srgbClr val="8A9B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552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OpenTable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6080" y="32552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$39+/mo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6301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discovery · opentable.com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4078224"/>
            <a:ext cx="4069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8100000">
              <a:srgbClr val="1C2B3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4078224"/>
            <a:ext cx="64008" cy="749808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1422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Form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926080" y="41422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45171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start · on-brand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98848" y="1078992"/>
            <a:ext cx="36576" cy="393192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109728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8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ORDERING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81728" y="1417320"/>
            <a:ext cx="4251960" cy="1051560"/>
          </a:xfrm>
          <a:prstGeom prst="rect">
            <a:avLst/>
          </a:prstGeom>
          <a:solidFill>
            <a:srgbClr val="FDF0D0"/>
          </a:solidFill>
          <a:ln w="12700">
            <a:solidFill>
              <a:srgbClr val="D4881E"/>
            </a:solidFill>
            <a:prstDash val="solid"/>
          </a:ln>
          <a:effectLst>
            <a:outerShdw sx="100000" sy="100000" kx="0" ky="0" algn="bl" rotWithShape="0" blurRad="152400" dist="38100" dir="8100000">
              <a:srgbClr val="1C2B3A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15087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Eats / Deliveroo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0" y="1508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list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build cost. Industry standard. We add branded order buttons to your site.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22402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48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ubereats.com · deliveroo.co.uk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89520" y="1490472"/>
            <a:ext cx="1188720" cy="274320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07808" y="1508760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81728" y="2624328"/>
            <a:ext cx="4251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8100000">
              <a:srgbClr val="1C2B3A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46320" y="27157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Order Form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72400" y="27157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+$150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46320" y="30815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 with item selection. Order emailed to you. Manual payment offline.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34472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getting started immediately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81728" y="3831336"/>
            <a:ext cx="4251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25400" dir="8100000">
              <a:srgbClr val="1C2B3A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46320" y="39227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eCommerce Build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772400" y="39227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+$700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46320" y="42885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 + Stripe. Product dashboard. Online payment. Note: Stripe transaction fees apply.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46320" y="46542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when you're ready to scale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Ordering Options — Fully Feasible, Honestly Assessed.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7772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can be built. Here's what each actually involves.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261872"/>
            <a:ext cx="278892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8100000">
              <a:srgbClr val="1C2B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261872"/>
            <a:ext cx="2788920" cy="109728"/>
          </a:xfrm>
          <a:prstGeom prst="rect">
            <a:avLst/>
          </a:prstGeom>
          <a:solidFill>
            <a:srgbClr val="2A7A57"/>
          </a:solidFill>
          <a:ln w="12700">
            <a:solidFill>
              <a:srgbClr val="2A7A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44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Form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A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+$150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272491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~4–6 hrs · 1–2 weeks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035808"/>
            <a:ext cx="2450592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108960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 with item selection. Order emailed to business. Manual payment offline. No automated time slots.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1051560" cy="228600"/>
          </a:xfrm>
          <a:prstGeom prst="rect">
            <a:avLst/>
          </a:prstGeom>
          <a:solidFill>
            <a:srgbClr val="EAF5EE"/>
          </a:solidFill>
          <a:ln w="12700">
            <a:solidFill>
              <a:srgbClr val="2A7A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941064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Low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82112" y="1261872"/>
            <a:ext cx="278892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8100000">
              <a:srgbClr val="1C2B3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82112" y="1261872"/>
            <a:ext cx="2788920" cy="109728"/>
          </a:xfrm>
          <a:prstGeom prst="rect">
            <a:avLst/>
          </a:prstGeom>
          <a:solidFill>
            <a:srgbClr val="1C7A8A"/>
          </a:solidFill>
          <a:ln w="12700">
            <a:solidFill>
              <a:srgbClr val="1C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46704" y="1444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46704" y="169164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 &amp; Backend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46704" y="219456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+$400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346704" y="272491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~12–15 hrs · 2–3 weeks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46704" y="3035808"/>
            <a:ext cx="2450592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6704" y="3108960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Cart-style ordering UI. Basic admin dashboard to view orders. Manual payment. Order confirmation email sent automatically.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46704" y="3931920"/>
            <a:ext cx="1051560" cy="228600"/>
          </a:xfrm>
          <a:prstGeom prst="rect">
            <a:avLst/>
          </a:prstGeom>
          <a:solidFill>
            <a:srgbClr val="E6F5F7"/>
          </a:solidFill>
          <a:ln w="12700">
            <a:solidFill>
              <a:srgbClr val="1C7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3941064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Medium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63056" y="1261872"/>
            <a:ext cx="278892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8100000">
              <a:srgbClr val="1C2B3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1261872"/>
            <a:ext cx="2788920" cy="109728"/>
          </a:xfrm>
          <a:prstGeom prst="rect">
            <a:avLst/>
          </a:prstGeom>
          <a:solidFill>
            <a:srgbClr val="1C3144"/>
          </a:solidFill>
          <a:ln w="12700">
            <a:solidFill>
              <a:srgbClr val="1C31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1444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27648" y="169164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eCommerce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27648" y="219456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1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+$700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327648" y="272491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~20–25 hrs · 3–4 weeks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27648" y="3035808"/>
            <a:ext cx="2450592" cy="9144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3108960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 or equivalent. Online payment via Stripe. Product management dashboard. Full order tracking. Note: Stripe fees apply.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27648" y="3931920"/>
            <a:ext cx="1051560" cy="228600"/>
          </a:xfrm>
          <a:prstGeom prst="rect">
            <a:avLst/>
          </a:prstGeom>
          <a:solidFill>
            <a:srgbClr val="EEE9E0"/>
          </a:solidFill>
          <a:ln w="12700">
            <a:solidFill>
              <a:srgbClr val="1C31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45936" y="3941064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3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High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1168" y="4681728"/>
            <a:ext cx="8759952" cy="347472"/>
          </a:xfrm>
          <a:prstGeom prst="rect">
            <a:avLst/>
          </a:prstGeom>
          <a:solidFill>
            <a:srgbClr val="FDF0D0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700016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honest recommendation: Start with delivery platform buttons (Uber Eats / Deliveroo) — zero build cost, instant customer reach. Revisit direct ordering once volumes are validated.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31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56032" y="77724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start. All tailorable. No commitment until you're ready.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6032" y="1207008"/>
            <a:ext cx="2057400" cy="329184"/>
          </a:xfrm>
          <a:prstGeom prst="rect">
            <a:avLst/>
          </a:prstGeom>
          <a:solidFill>
            <a:srgbClr val="233E55"/>
          </a:solidFill>
          <a:ln w="12700">
            <a:solidFill>
              <a:srgbClr val="3A6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207008"/>
            <a:ext cx="54864" cy="329184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252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upfront payment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207008"/>
            <a:ext cx="2057400" cy="329184"/>
          </a:xfrm>
          <a:prstGeom prst="rect">
            <a:avLst/>
          </a:prstGeom>
          <a:solidFill>
            <a:srgbClr val="233E55"/>
          </a:solidFill>
          <a:ln w="12700">
            <a:solidFill>
              <a:srgbClr val="3A6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207008"/>
            <a:ext cx="54864" cy="329184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6896" y="12252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on delivery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81728" y="1207008"/>
            <a:ext cx="2057400" cy="329184"/>
          </a:xfrm>
          <a:prstGeom prst="rect">
            <a:avLst/>
          </a:prstGeom>
          <a:solidFill>
            <a:srgbClr val="233E55"/>
          </a:solidFill>
          <a:ln w="12700">
            <a:solidFill>
              <a:srgbClr val="3A6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1207008"/>
            <a:ext cx="54864" cy="329184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2252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out any 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94576" y="1207008"/>
            <a:ext cx="2057400" cy="329184"/>
          </a:xfrm>
          <a:prstGeom prst="rect">
            <a:avLst/>
          </a:prstGeom>
          <a:solidFill>
            <a:srgbClr val="233E55"/>
          </a:solidFill>
          <a:ln w="12700">
            <a:solidFill>
              <a:srgbClr val="3A6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94576" y="1207008"/>
            <a:ext cx="54864" cy="329184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22592" y="122529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lock-in contracts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1664208"/>
            <a:ext cx="2057400" cy="3200400"/>
          </a:xfrm>
          <a:prstGeom prst="rect">
            <a:avLst/>
          </a:prstGeom>
          <a:solidFill>
            <a:srgbClr val="2A4A63"/>
          </a:solidFill>
          <a:ln w="12700">
            <a:solidFill>
              <a:srgbClr val="3A6080"/>
            </a:solidFill>
            <a:prstDash val="solid"/>
          </a:ln>
          <a:effectLst>
            <a:outerShdw sx="100000" sy="100000" kx="0" ky="0" algn="bl" rotWithShape="0" blurRad="101600" dist="25400" dir="8100000">
              <a:srgbClr val="1C2B3A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0896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10896" y="2331720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0896" y="309067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10896" y="370332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wks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0896" y="4005072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Production-quality HTML. Clean, documented code. Hand to any developer or platform.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14016" y="1664208"/>
            <a:ext cx="2057400" cy="3200400"/>
          </a:xfrm>
          <a:prstGeom prst="rect">
            <a:avLst/>
          </a:prstGeom>
          <a:solidFill>
            <a:srgbClr val="2A4A63"/>
          </a:solidFill>
          <a:ln w="12700">
            <a:solidFill>
              <a:srgbClr val="3A6080"/>
            </a:solidFill>
            <a:prstDash val="solid"/>
          </a:ln>
          <a:effectLst>
            <a:outerShdw sx="100000" sy="100000" kx="0" ky="0" algn="bl" rotWithShape="0" blurRad="101600" dist="25400" dir="8100000">
              <a:srgbClr val="1C2B3A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23744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523744" y="2331720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23744" y="309067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2523744" y="370332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23744" y="4005072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site live on best-fit hosting. All pages, mobile responsive, domain setup included.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26864" y="1664208"/>
            <a:ext cx="2057400" cy="3200400"/>
          </a:xfrm>
          <a:prstGeom prst="rect">
            <a:avLst/>
          </a:prstGeom>
          <a:solidFill>
            <a:srgbClr val="2A4A63"/>
          </a:solidFill>
          <a:ln w="12700">
            <a:solidFill>
              <a:srgbClr val="3A6080"/>
            </a:solidFill>
            <a:prstDash val="solid"/>
          </a:ln>
          <a:effectLst>
            <a:outerShdw sx="100000" sy="100000" kx="0" ky="0" algn="bl" rotWithShape="0" blurRad="101600" dist="25400" dir="8100000">
              <a:srgbClr val="1C2B3A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36592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736592" y="2331720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Bookings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Contact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36592" y="309067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$1,100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4736592" y="370332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wks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36592" y="4005072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+ booking widget, contact forms, Google Maps, professional email routing.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39712" y="1664208"/>
            <a:ext cx="2057400" cy="3200400"/>
          </a:xfrm>
          <a:prstGeom prst="rect">
            <a:avLst/>
          </a:prstGeom>
          <a:solidFill>
            <a:srgbClr val="D4881E"/>
          </a:solidFill>
          <a:ln w="12700">
            <a:solidFill>
              <a:srgbClr val="F5B942"/>
            </a:solidFill>
            <a:prstDash val="solid"/>
          </a:ln>
          <a:effectLst>
            <a:outerShdw sx="100000" sy="100000" kx="0" ky="0" algn="bl" rotWithShape="0" blurRad="152400" dist="38100" dir="8100000">
              <a:srgbClr val="1C2B3A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494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1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949440" y="2331720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1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C31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3-Phase Build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49440" y="309067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31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$1,250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6949440" y="370332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wks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49440" y="4005072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Complete. Delivery platform buttons, ordering setup, all integrations included.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162838"/>
          </a:solidFill>
          <a:ln w="12700">
            <a:solidFill>
              <a:srgbClr val="1628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4928616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Add-ons: Custom ordering +$150–700  ·  Copywriting +$150  ·  Imagery +$100  ·  Monthly support retainer $50–100/mo  ·  Hosting costs billed at cost — no markup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C3144"/>
          </a:solidFill>
          <a:ln w="12700">
            <a:solidFill>
              <a:srgbClr val="1C31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28016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&amp; Assets — What We Need From You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667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exactly what we need, and what we'll handle.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261872"/>
            <a:ext cx="8686800" cy="365760"/>
          </a:xfrm>
          <a:prstGeom prst="rect">
            <a:avLst/>
          </a:prstGeom>
          <a:solidFill>
            <a:srgbClr val="2A4A63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16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316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/ Notes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1316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627632"/>
            <a:ext cx="8686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37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1737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exists. Hands graphic included.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737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Supplied by client — integrated by us.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295144"/>
            <a:ext cx="8686800" cy="594360"/>
          </a:xfrm>
          <a:prstGeom prst="rect">
            <a:avLst/>
          </a:prstGeom>
          <a:solidFill>
            <a:srgbClr val="EEE9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048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Copywriting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24048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may provide; we can support.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4048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write/refine for +$150. We also advise tone and structure.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962656"/>
            <a:ext cx="8686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723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30723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AI-generated, or pro photos.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0723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 placeholders included. AI curation / stock selection +$100.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630168"/>
            <a:ext cx="8686800" cy="594360"/>
          </a:xfrm>
          <a:prstGeom prst="rect">
            <a:avLst/>
          </a:prstGeom>
          <a:solidFill>
            <a:srgbClr val="EEE9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739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 Content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26080" y="37398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by client.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37398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style and format to match the design.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4297680"/>
            <a:ext cx="8686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4074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Name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26080" y="4407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Purchased by client (~$12–15/yr)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4407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handle full DNS setup at no extra charge.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5143500"/>
          </a:xfrm>
          <a:prstGeom prst="rect">
            <a:avLst/>
          </a:prstGeom>
          <a:solidFill>
            <a:srgbClr val="1C3144"/>
          </a:solidFill>
          <a:ln w="12700">
            <a:solidFill>
              <a:srgbClr val="1C31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28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choose us?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804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8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Vendhan Infotech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1289304"/>
            <a:ext cx="201168" cy="201168"/>
          </a:xfrm>
          <a:prstGeom prst="ellipse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34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client on Upwork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54533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full, undivided attention. No competing priorities. Just one team, fully invested in your success.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2167128"/>
            <a:ext cx="201168" cy="201168"/>
          </a:xfrm>
          <a:prstGeom prst="ellipse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122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invested in your project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4231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prototypes built and ready before you hired us. A recording made. That's the level of commitment we bring.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3044952"/>
            <a:ext cx="201168" cy="201168"/>
          </a:xfrm>
          <a:prstGeom prst="ellipse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9900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Straight advice, always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330098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tell you when simpler is better. Your trust matters more than the invoice total.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3922776"/>
            <a:ext cx="201168" cy="201168"/>
          </a:xfrm>
          <a:prstGeom prst="ellipse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8679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stay involved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41788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Retainer, updates, new phases — we're your web team, not just a vendor.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28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572000" y="960120"/>
            <a:ext cx="4343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8100000">
              <a:srgbClr val="1C2B3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960120"/>
            <a:ext cx="502920" cy="1005840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1207008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31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93792" y="10515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the screen recording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93792" y="14538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send the link. See every prototype, every section, every interaction — in minutes.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2167128"/>
            <a:ext cx="4343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8100000">
              <a:srgbClr val="1C2B3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167128"/>
            <a:ext cx="502920" cy="1005840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0288" y="2414016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31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193792" y="22585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 it? We host them live — same day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93792" y="26609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word and all 6 are live for your team to open, explore and share on any device.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3374136"/>
            <a:ext cx="4343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52400" dist="38100" dir="8100000">
              <a:srgbClr val="1C2B3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3374136"/>
            <a:ext cx="502920" cy="1005840"/>
          </a:xfrm>
          <a:prstGeom prst="rect">
            <a:avLst/>
          </a:prstGeom>
          <a:solidFill>
            <a:srgbClr val="D4881E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90288" y="3621024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31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193792" y="34655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start within days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93792" y="3867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agreed → we build → you review → you pay on delivery.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0" y="4572000"/>
            <a:ext cx="4343400" cy="457200"/>
          </a:xfrm>
          <a:prstGeom prst="rect">
            <a:avLst/>
          </a:prstGeom>
          <a:solidFill>
            <a:srgbClr val="FDF0D0"/>
          </a:solidFill>
          <a:ln w="12700">
            <a:solidFill>
              <a:srgbClr val="D488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462686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  We're excited to earn our first 5-star review — and yours.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Vendhan Infotech — Website Design &amp; Development Proposal</dc:title>
  <dc:subject>PptxGenJS Presentation</dc:subject>
  <dc:creator>PptxGenJS</dc:creator>
  <cp:lastModifiedBy>PptxGenJS</cp:lastModifiedBy>
  <cp:revision>1</cp:revision>
  <dcterms:created xsi:type="dcterms:W3CDTF">2026-02-19T04:46:31Z</dcterms:created>
  <dcterms:modified xsi:type="dcterms:W3CDTF">2026-02-19T04:46:31Z</dcterms:modified>
</cp:coreProperties>
</file>